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4"/>
  </p:notesMasterIdLst>
  <p:sldIdLst>
    <p:sldId id="269" r:id="rId2"/>
    <p:sldId id="256" r:id="rId3"/>
    <p:sldId id="258" r:id="rId4"/>
    <p:sldId id="257" r:id="rId5"/>
    <p:sldId id="259" r:id="rId6"/>
    <p:sldId id="270" r:id="rId7"/>
    <p:sldId id="271" r:id="rId8"/>
    <p:sldId id="272" r:id="rId9"/>
    <p:sldId id="273" r:id="rId10"/>
    <p:sldId id="274" r:id="rId11"/>
    <p:sldId id="265" r:id="rId12"/>
    <p:sldId id="266" r:id="rId13"/>
    <p:sldId id="267" r:id="rId14"/>
    <p:sldId id="268" r:id="rId15"/>
    <p:sldId id="281" r:id="rId16"/>
    <p:sldId id="282" r:id="rId17"/>
    <p:sldId id="276" r:id="rId18"/>
    <p:sldId id="277" r:id="rId19"/>
    <p:sldId id="278" r:id="rId20"/>
    <p:sldId id="279" r:id="rId21"/>
    <p:sldId id="283" r:id="rId22"/>
    <p:sldId id="280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86568-1B08-46E8-A23D-783CB64ADAD2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D3A14-90D3-412B-945C-8A8EB31001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3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949da28e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3949da28e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949da28e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949da28e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949da28e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949da28e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2e130d28c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2e130d28c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161E1-A32D-4AEE-B62D-491B6704A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FDD6A-82A4-415C-95DA-33F83B5A8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62624-A8D9-4289-8171-E744AFF7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C1AF02-ED95-4225-A281-88E06029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BED320-3E3B-4DCB-B8F6-1C1543BD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49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5DD62-8D6A-4D77-8A27-E4F3DF2FE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63785-6C79-40EE-B068-9336EF25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CCA20-9E7B-44E0-9521-80E48E8D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CA9A2-C7C1-41AC-804A-4DEFD9B0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4BDC9-1BE9-47C3-9EF2-020BAFA4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45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3CD1E-D051-46A6-B84A-DA3B8CD5F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2B5A74-C2AC-4B3E-9808-1C6B5B08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9BA7B-F949-4371-88DC-30B79C1A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1F3BE6-1A38-4086-9E28-AAEF30B1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F3FE50-CA47-403C-8438-2BED94DC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94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52641-7D83-4F01-8385-CCA6A1E1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4FF7B-8841-4010-933C-88FA60932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C87011-98E0-468B-93B2-D910A85EC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B1BABE-EC30-420A-A3C4-77D263B5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E906C-6172-4709-9A6F-38542E15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B65795-20EE-4AED-930E-6EA516CD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765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9D398-64D8-42EA-8D54-85B09705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AE90FC-04CE-45E1-80C6-49BBB0C68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4F3804-C127-4778-B71C-E1FAA698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654B5A-8308-4477-8A51-2CAF483BC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F47976-345D-494F-A41F-99CAC3E83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ECB9FA-D8D7-49E6-BC02-2033272C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3A25E09-DE6F-4C84-8E84-FC5EFB72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B7B371-F57E-4F10-B9D6-C1E07001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55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BB285-8957-4FC0-B6F3-095E58A3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5DE2C6-A6E4-4467-A455-5ED45AFA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DF4A3C-101D-493C-87BE-00422CB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32223A-7788-4143-80CB-5CAB1F5A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827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159D98-EE1E-4B71-99A7-2ED44948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2C0384C-E643-4F41-8ADC-996255038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4086C5-0C1F-48FC-A2E9-BEA051F7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889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171FC-88D4-46FE-AEA8-DF1B1184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1A088D-1CAC-4CB9-91FF-0708B7D4B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FD32D3-6F11-4F61-9903-F5BF5EA1C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8C2E14-97CC-4245-AFB6-22C2BBA0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7FD004-2FAD-41A9-A141-54DFC1E7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5F0C4E-8201-48C0-9004-95BA0F71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88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91098-9D22-43F6-AC5B-F5FB3600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93A62A-25BD-4DA8-80A3-45FCD2F8E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9B1C2C-21A3-4910-897D-C60BFE829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D1FE6D-56CC-4343-852B-0E845C1A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DA97DD-B473-4E6B-82C0-CCDE6315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B18FD8-41BF-417B-B66B-94B1B145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21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9915-B214-41B0-83E0-9BCB37F0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CDA52E-5A6C-4087-B26C-BA41B6A14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8B557C-00F9-4E8C-881B-A50B389B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615A8D-A9D8-4138-8773-2511943A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8C1CD7-4C4C-46FE-B32E-FE231C64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61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37604F-68B4-48F3-AC45-4AA17F128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B23098-E88C-4B3A-BC08-406D9943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7BE583-9D62-4C96-A27C-F831B500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EDB090-B70E-4643-AE8B-B55A852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A54C8D-83E7-40B1-973F-81AB7916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020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240000" y="1130233"/>
            <a:ext cx="11908400" cy="5676000"/>
          </a:xfrm>
          <a:prstGeom prst="rect">
            <a:avLst/>
          </a:prstGeom>
        </p:spPr>
        <p:txBody>
          <a:bodyPr spcFirstLastPara="1" wrap="square" lIns="0" tIns="36000" rIns="91425" bIns="36000" anchor="t" anchorCtr="0">
            <a:normAutofit/>
          </a:bodyPr>
          <a:lstStyle>
            <a:lvl1pPr marL="609585" lvl="0" indent="-397923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100"/>
              <a:buFont typeface="Source Code Pro Medium"/>
              <a:buChar char="✠"/>
              <a:defRPr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marL="1219170" lvl="1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Code Pro Medium"/>
              <a:buChar char="⇢"/>
              <a:defRPr sz="2133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ource Code Pro Medium"/>
              <a:buChar char="■"/>
              <a:defRPr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3pPr>
            <a:lvl4pPr marL="2438339" lvl="3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Code Pro Medium"/>
              <a:buChar char="●"/>
              <a:defRPr sz="2000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Code Pro Medium"/>
              <a:buChar char="○"/>
              <a:defRPr sz="1600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Code Pro Medium"/>
              <a:buChar char="■"/>
              <a:defRPr sz="1600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urce Code Pro Medium"/>
              <a:buChar char="●"/>
              <a:defRPr sz="1600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7pPr>
            <a:lvl8pPr marL="4876678" lvl="7" indent="-3979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ource Code Pro Medium"/>
              <a:buChar char="○"/>
              <a:defRPr sz="1467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8pPr>
            <a:lvl9pPr marL="5486263" lvl="8" indent="-38945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urce Code Pro Medium"/>
              <a:buChar char="■"/>
              <a:defRPr sz="1333"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6" name="Google Shape;26;p5"/>
          <p:cNvSpPr/>
          <p:nvPr/>
        </p:nvSpPr>
        <p:spPr>
          <a:xfrm>
            <a:off x="0" y="-33"/>
            <a:ext cx="12192000" cy="100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120633" y="5267"/>
            <a:ext cx="12071200" cy="10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965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9BAFCA-6708-4AF8-B23E-61D76278A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1E2AA8-7957-4802-A76C-9720408FF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49D2E-C7D8-40D7-8176-C7347E806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4641C-8D9F-4403-9FE3-38AD47664C3E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0D4F2B-A836-402E-9F64-DF7FF532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2001BF-F608-48B0-A362-2B05E754D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33007-4D4C-464F-96C4-A567C614C1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68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kupskiemerson.neocities.org/conteudo/receita/CUCA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9D384-20C4-423A-990F-F4DDF652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56" y="0"/>
            <a:ext cx="10417743" cy="1282889"/>
          </a:xfrm>
        </p:spPr>
        <p:txBody>
          <a:bodyPr>
            <a:noAutofit/>
          </a:bodyPr>
          <a:lstStyle/>
          <a:p>
            <a:pPr algn="ctr"/>
            <a:r>
              <a:rPr lang="pt-BR" b="1" dirty="0"/>
              <a:t> </a:t>
            </a:r>
            <a:br>
              <a:rPr lang="pt-BR" sz="1800" b="0" i="0" u="none" strike="noStrike" baseline="0" dirty="0">
                <a:solidFill>
                  <a:srgbClr val="000000"/>
                </a:solidFill>
              </a:rPr>
            </a:br>
            <a:r>
              <a:rPr lang="pt-BR" sz="18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Atividade Extensionista II: </a:t>
            </a:r>
            <a:r>
              <a:rPr lang="pt-B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 Aplicada à Inclusão Digital 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9D47A-A634-450B-8AEB-A8154977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82890"/>
            <a:ext cx="12191999" cy="5575110"/>
          </a:xfrm>
        </p:spPr>
        <p:txBody>
          <a:bodyPr>
            <a:normAutofit fontScale="25000" lnSpcReduction="20000"/>
          </a:bodyPr>
          <a:lstStyle/>
          <a:p>
            <a:endParaRPr lang="pt-BR" sz="6000" b="1" dirty="0"/>
          </a:p>
          <a:p>
            <a:endParaRPr lang="pt-BR" sz="6000" b="1" dirty="0"/>
          </a:p>
          <a:p>
            <a:endParaRPr lang="pt-BR" sz="6000" b="1" dirty="0"/>
          </a:p>
          <a:p>
            <a:endParaRPr lang="pt-BR" sz="6000" b="1" dirty="0"/>
          </a:p>
          <a:p>
            <a:r>
              <a:rPr lang="pt-BR" sz="9600" b="1" dirty="0">
                <a:latin typeface="Arial" panose="020B0604020202020204" pitchFamily="34" charset="0"/>
                <a:cs typeface="Arial" panose="020B0604020202020204" pitchFamily="34" charset="0"/>
              </a:rPr>
              <a:t>PROTÓTIPO: GESTÃO DE PESSOAS COM ENFASE EM TECNOLOGIA.</a:t>
            </a:r>
          </a:p>
          <a:p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96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Protótipo - Aprendendo a Desenvolver Sites: Oficina para jovens. </a:t>
            </a: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BR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9600" b="1" dirty="0">
                <a:latin typeface="Arial" panose="020B0604020202020204" pitchFamily="34" charset="0"/>
                <a:cs typeface="Arial" panose="020B0604020202020204" pitchFamily="34" charset="0"/>
              </a:rPr>
              <a:t>ALUNO:</a:t>
            </a: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 Emerson Emilio </a:t>
            </a:r>
            <a:r>
              <a:rPr lang="pt-BR" sz="9600" dirty="0" err="1">
                <a:latin typeface="Arial" panose="020B0604020202020204" pitchFamily="34" charset="0"/>
                <a:cs typeface="Arial" panose="020B0604020202020204" pitchFamily="34" charset="0"/>
              </a:rPr>
              <a:t>Kupski</a:t>
            </a:r>
            <a:endParaRPr lang="pt-BR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F2ABAEA-46B9-2FB4-B776-AC36AEB2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9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19CA54D-C5D9-421B-B312-60F28846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213"/>
            <a:ext cx="11112062" cy="866594"/>
          </a:xfrm>
        </p:spPr>
        <p:txBody>
          <a:bodyPr>
            <a:normAutofit/>
          </a:bodyPr>
          <a:lstStyle/>
          <a:p>
            <a:pPr algn="ctr"/>
            <a:r>
              <a:rPr lang="pt-BR" sz="4900" b="1" dirty="0"/>
              <a:t>CADASTRO NO NEOCITIES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8DD192-4F58-415F-AE4C-81E843338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713"/>
            <a:ext cx="10515600" cy="5427074"/>
          </a:xfrm>
        </p:spPr>
        <p:txBody>
          <a:bodyPr/>
          <a:lstStyle/>
          <a:p>
            <a:pPr marL="457200" lvl="0" indent="-298450">
              <a:lnSpc>
                <a:spcPct val="150000"/>
              </a:lnSpc>
              <a:buSzPts val="1100"/>
              <a:buChar char="✠"/>
            </a:pPr>
            <a:r>
              <a:rPr lang="pt-BR" dirty="0"/>
              <a:t>Nós iremos hospedar nossas páginas em um 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SERVIDOR</a:t>
            </a:r>
            <a:r>
              <a:rPr lang="pt-BR" dirty="0"/>
              <a:t> gratuito;</a:t>
            </a:r>
          </a:p>
          <a:p>
            <a:pPr marL="457200" lvl="0" indent="-298450">
              <a:lnSpc>
                <a:spcPct val="150000"/>
              </a:lnSpc>
              <a:spcBef>
                <a:spcPts val="0"/>
              </a:spcBef>
              <a:buSzPts val="1100"/>
              <a:buChar char="✠"/>
            </a:pPr>
            <a:r>
              <a:rPr lang="pt-BR" dirty="0"/>
              <a:t>Utilizaremos neste momento: 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https://neocities.org/</a:t>
            </a:r>
          </a:p>
          <a:p>
            <a:pPr marL="457200" lvl="0" indent="-298450">
              <a:lnSpc>
                <a:spcPct val="150000"/>
              </a:lnSpc>
              <a:spcBef>
                <a:spcPts val="0"/>
              </a:spcBef>
              <a:buSzPts val="1100"/>
              <a:buChar char="✠"/>
            </a:pPr>
            <a:r>
              <a:rPr lang="pt-BR" dirty="0"/>
              <a:t>Façam seu cadastro no site para colocarmos nossas páginas</a:t>
            </a:r>
          </a:p>
          <a:p>
            <a:endParaRPr lang="pt-BR" dirty="0"/>
          </a:p>
        </p:txBody>
      </p:sp>
      <p:pic>
        <p:nvPicPr>
          <p:cNvPr id="7" name="Google Shape;83;p15">
            <a:extLst>
              <a:ext uri="{FF2B5EF4-FFF2-40B4-BE49-F238E27FC236}">
                <a16:creationId xmlns:a16="http://schemas.microsoft.com/office/drawing/2014/main" id="{4E96A544-C90A-46EA-ABE5-36999C8F723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13161" y="3577225"/>
            <a:ext cx="4911373" cy="27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C5A124B-E53B-9CF0-7033-ED9731DF5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6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73B288E-F84C-4E3D-9AAC-8AA90786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38249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ORGANIZAÇÃO DA PAGINA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3D8F3B-5ACD-4E97-B4E4-F033971E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96" y="1046922"/>
            <a:ext cx="11741426" cy="5711687"/>
          </a:xfrm>
        </p:spPr>
        <p:txBody>
          <a:bodyPr>
            <a:normAutofit lnSpcReduction="10000"/>
          </a:bodyPr>
          <a:lstStyle/>
          <a:p>
            <a:pPr marL="158750" lvl="0" indent="0">
              <a:lnSpc>
                <a:spcPct val="115000"/>
              </a:lnSpc>
              <a:buSzPts val="1100"/>
              <a:buNone/>
            </a:pPr>
            <a:r>
              <a:rPr lang="pt-BR" dirty="0"/>
              <a:t>Após terminar seu projeto, entre na sua conta do </a:t>
            </a:r>
            <a:r>
              <a:rPr lang="pt-BR" b="1" dirty="0" err="1">
                <a:latin typeface="Source Code Pro"/>
                <a:ea typeface="Source Code Pro"/>
                <a:cs typeface="Source Code Pro"/>
                <a:sym typeface="Source Code Pro"/>
              </a:rPr>
              <a:t>neocities</a:t>
            </a:r>
            <a:r>
              <a:rPr lang="pt-BR" dirty="0"/>
              <a:t> e coloque todos seus arquivos lá;</a:t>
            </a:r>
          </a:p>
          <a:p>
            <a:pPr marL="158750" lvl="0" indent="0">
              <a:lnSpc>
                <a:spcPct val="115000"/>
              </a:lnSpc>
              <a:buSzPts val="1100"/>
              <a:buNone/>
            </a:pPr>
            <a:r>
              <a:rPr lang="pt-BR" dirty="0"/>
              <a:t>Certifique-se de que a estrutura de diretórios é a igual ao do seu computador.</a:t>
            </a:r>
          </a:p>
          <a:p>
            <a:pPr marL="0" lvl="0" indent="0">
              <a:spcBef>
                <a:spcPts val="0"/>
              </a:spcBef>
              <a:buNone/>
            </a:pPr>
            <a:endParaRPr lang="pt-BR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C:\Documentos\meu-site\</a:t>
            </a:r>
          </a:p>
          <a:p>
            <a:pPr marL="0" lvl="0" indent="0">
              <a:spcBef>
                <a:spcPts val="0"/>
              </a:spcBef>
              <a:buNone/>
            </a:pPr>
            <a:endParaRPr lang="pt-BR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>
              <a:lnSpc>
                <a:spcPct val="135714"/>
              </a:lnSpc>
              <a:spcBef>
                <a:spcPts val="0"/>
              </a:spcBef>
              <a:buNone/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📝index.html</a:t>
            </a:r>
          </a:p>
          <a:p>
            <a:pPr marL="0" lvl="0" indent="0">
              <a:lnSpc>
                <a:spcPct val="135714"/>
              </a:lnSpc>
              <a:spcBef>
                <a:spcPts val="0"/>
              </a:spcBef>
              <a:buNone/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📂</a:t>
            </a:r>
            <a:r>
              <a:rPr lang="pt-BR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css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\</a:t>
            </a:r>
          </a:p>
          <a:p>
            <a:pPr marL="0" lvl="0" indent="0">
              <a:lnSpc>
                <a:spcPct val="135714"/>
              </a:lnSpc>
              <a:spcBef>
                <a:spcPts val="0"/>
              </a:spcBef>
              <a:buNone/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	</a:t>
            </a:r>
            <a:r>
              <a:rPr lang="pt-BR" dirty="0">
                <a:highlight>
                  <a:schemeClr val="lt1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📝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estilo.css</a:t>
            </a:r>
          </a:p>
          <a:p>
            <a:pPr marL="0" lvl="0" indent="0">
              <a:lnSpc>
                <a:spcPct val="135714"/>
              </a:lnSpc>
              <a:spcBef>
                <a:spcPts val="0"/>
              </a:spcBef>
              <a:buNone/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📂</a:t>
            </a:r>
            <a:r>
              <a:rPr lang="pt-BR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img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\</a:t>
            </a:r>
          </a:p>
          <a:p>
            <a:pPr marL="0" lvl="0" indent="0">
              <a:lnSpc>
                <a:spcPct val="135714"/>
              </a:lnSpc>
              <a:spcBef>
                <a:spcPts val="0"/>
              </a:spcBef>
              <a:buNone/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	🚴...imagens...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0976D77-5988-9C39-3586-179122220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04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1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ABEE14B-6A87-404E-ACD2-61966379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322" y="1"/>
            <a:ext cx="10230677" cy="1150882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&lt;HTML&gt;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0AA425-2FD6-445E-8386-79C8B190C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883"/>
            <a:ext cx="10515600" cy="5407572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&lt;!DOCTYPE</a:t>
            </a: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en-US" dirty="0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html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&lt;html</a:t>
            </a: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lang</a:t>
            </a: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en-US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pt</a:t>
            </a:r>
            <a:r>
              <a:rPr lang="en-US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-BR"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en-US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&lt;head&gt;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&lt;/head&gt;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en-US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&lt;body&gt;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&lt;/body&gt;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en-US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&lt;/html&gt;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2D671A3-36F8-5ECA-0564-5E0751A4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94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3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B0028-DC35-4C39-84D1-23EBEB290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049000" cy="1007164"/>
          </a:xfrm>
        </p:spPr>
        <p:txBody>
          <a:bodyPr/>
          <a:lstStyle/>
          <a:p>
            <a:pPr algn="ctr"/>
            <a:r>
              <a:rPr lang="pt-BR" b="1" dirty="0"/>
              <a:t>&lt;HEAD&gt;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9EE931-A3F5-4A5A-BB89-206E5FDF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7164"/>
            <a:ext cx="10515600" cy="5850835"/>
          </a:xfrm>
        </p:spPr>
        <p:txBody>
          <a:bodyPr>
            <a:normAutofit fontScale="70000" lnSpcReduction="20000"/>
          </a:bodyPr>
          <a:lstStyle/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&lt;!DOCTYPE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html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html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lang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pt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-BR"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pt-BR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head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&lt;meta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name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viewport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content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width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=device-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width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, 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initial-scale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=1"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&lt;meta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charset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"unit-8"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title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Meu Site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title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&lt;link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rel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stylesheet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src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css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/estilo.css"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&lt;link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rel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icon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type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image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/png"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 err="1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href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"/</a:t>
            </a:r>
            <a:r>
              <a:rPr lang="pt-BR" dirty="0" err="1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img</a:t>
            </a:r>
            <a:r>
              <a:rPr lang="pt-BR" dirty="0">
                <a:solidFill>
                  <a:srgbClr val="0000FF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/favicon.png"</a:t>
            </a: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/&gt;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head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pt-BR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body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body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endParaRPr lang="pt-BR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>
              <a:lnSpc>
                <a:spcPct val="132000"/>
              </a:lnSpc>
              <a:spcBef>
                <a:spcPts val="0"/>
              </a:spcBef>
              <a:buNone/>
            </a:pP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html</a:t>
            </a:r>
            <a:r>
              <a:rPr lang="pt-BR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909B93-6789-332B-C641-2EA449CE7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8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9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D432A-F179-4935-8DE2-B44384BB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042" y="43416"/>
            <a:ext cx="10402957" cy="1227159"/>
          </a:xfrm>
        </p:spPr>
        <p:txBody>
          <a:bodyPr>
            <a:normAutofit/>
          </a:bodyPr>
          <a:lstStyle/>
          <a:p>
            <a:pPr algn="ctr"/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&lt;BODY&gt;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B862B1-481E-44F5-ADC3-AF3A21E6D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0998" y="1270576"/>
            <a:ext cx="9371732" cy="5544008"/>
          </a:xfrm>
        </p:spPr>
        <p:txBody>
          <a:bodyPr/>
          <a:lstStyle/>
          <a:p>
            <a:endParaRPr lang="pt-BR" dirty="0"/>
          </a:p>
          <a:p>
            <a:endParaRPr lang="pt-BR" sz="2800" dirty="0"/>
          </a:p>
          <a:p>
            <a:r>
              <a:rPr lang="pt-BR" sz="2800" b="1" dirty="0">
                <a:solidFill>
                  <a:schemeClr val="tx1"/>
                </a:solidFill>
              </a:rPr>
              <a:t>Informações de inicio da página, </a:t>
            </a:r>
            <a:r>
              <a:rPr lang="pt-BR" sz="2800" b="1" dirty="0" err="1">
                <a:solidFill>
                  <a:schemeClr val="tx1"/>
                </a:solidFill>
              </a:rPr>
              <a:t>ex</a:t>
            </a:r>
            <a:r>
              <a:rPr lang="pt-BR" sz="2800" b="1" dirty="0">
                <a:solidFill>
                  <a:schemeClr val="tx1"/>
                </a:solidFill>
              </a:rPr>
              <a:t>: menu de navegação, etc..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>
                <a:solidFill>
                  <a:schemeClr val="tx1"/>
                </a:solidFill>
              </a:rPr>
              <a:t>Conteúdo principal do site (</a:t>
            </a:r>
            <a:r>
              <a:rPr lang="pt-BR" sz="2800" b="1" dirty="0" err="1">
                <a:solidFill>
                  <a:schemeClr val="tx1"/>
                </a:solidFill>
              </a:rPr>
              <a:t>content</a:t>
            </a:r>
            <a:r>
              <a:rPr lang="pt-BR" sz="2800" b="1" dirty="0">
                <a:solidFill>
                  <a:schemeClr val="tx1"/>
                </a:solidFill>
              </a:rPr>
              <a:t>)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r>
              <a:rPr lang="pt-BR" sz="2800" b="1" dirty="0">
                <a:solidFill>
                  <a:schemeClr val="tx1"/>
                </a:solidFill>
              </a:rPr>
              <a:t>Rodapé do site, </a:t>
            </a:r>
            <a:r>
              <a:rPr lang="pt-BR" sz="2800" b="1" dirty="0" err="1">
                <a:solidFill>
                  <a:schemeClr val="tx1"/>
                </a:solidFill>
              </a:rPr>
              <a:t>ex</a:t>
            </a:r>
            <a:r>
              <a:rPr lang="pt-BR" sz="2800" b="1" dirty="0">
                <a:solidFill>
                  <a:schemeClr val="tx1"/>
                </a:solidFill>
              </a:rPr>
              <a:t>: ano, copyright, quem somos nós, etc..</a:t>
            </a:r>
          </a:p>
        </p:txBody>
      </p:sp>
      <p:sp>
        <p:nvSpPr>
          <p:cNvPr id="7" name="Google Shape;103;p18">
            <a:extLst>
              <a:ext uri="{FF2B5EF4-FFF2-40B4-BE49-F238E27FC236}">
                <a16:creationId xmlns:a16="http://schemas.microsoft.com/office/drawing/2014/main" id="{DC1E5E15-CFC2-40CF-B8C2-E060D76E8BB9}"/>
              </a:ext>
            </a:extLst>
          </p:cNvPr>
          <p:cNvSpPr txBox="1"/>
          <p:nvPr/>
        </p:nvSpPr>
        <p:spPr>
          <a:xfrm>
            <a:off x="-1" y="1270575"/>
            <a:ext cx="2475915" cy="579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body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&lt;header&gt;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&lt;/header&gt;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&lt;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main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&lt;/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main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&lt;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footer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&lt;/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footer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endParaRPr sz="2400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sz="2400" dirty="0" err="1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body</a:t>
            </a:r>
            <a:r>
              <a:rPr lang="pt-BR" sz="2400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400" dirty="0">
              <a:solidFill>
                <a:srgbClr val="80000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marL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C9005B4-FF01-6610-71DC-72881407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1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4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550D-C057-47B8-9B3C-B616D94D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886" y="0"/>
            <a:ext cx="9833114" cy="1041009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Exemplo de código &lt;BODY&gt;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0CA9F9-0560-4E73-B7CF-432543C7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084" y="1041010"/>
            <a:ext cx="3545058" cy="5725350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&lt;header&gt;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&lt;h1&gt;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Titulo header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&lt;/h1&gt;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nav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dirty="0">
                <a:solidFill>
                  <a:srgbClr val="008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&lt;!-- </a:t>
            </a:r>
            <a:r>
              <a:rPr lang="pt-BR" dirty="0" err="1">
                <a:solidFill>
                  <a:srgbClr val="008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navegacao</a:t>
            </a:r>
            <a:r>
              <a:rPr lang="pt-BR" dirty="0">
                <a:solidFill>
                  <a:srgbClr val="008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--&gt;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&lt;a&gt;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opção 1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&lt;/a&gt;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&lt;a&gt;</a:t>
            </a:r>
            <a:r>
              <a:rPr lang="pt-BR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opçao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2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&lt;/a&gt;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&lt;a&gt;</a:t>
            </a: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..opção (n)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&lt;/a&gt;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nav</a:t>
            </a: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&lt;/header&gt;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3ED11B-9E0C-463D-BB91-2F5ADDF56966}"/>
              </a:ext>
            </a:extLst>
          </p:cNvPr>
          <p:cNvSpPr/>
          <p:nvPr/>
        </p:nvSpPr>
        <p:spPr>
          <a:xfrm>
            <a:off x="3474720" y="1086678"/>
            <a:ext cx="4740813" cy="5725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main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&lt;header&gt;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&lt;h1&gt;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Título </a:t>
            </a:r>
            <a:r>
              <a:rPr lang="pt-BR" sz="2000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main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..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&lt;/h1&gt;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&lt;/header&gt;</a:t>
            </a:r>
          </a:p>
          <a:p>
            <a:pPr lvl="0">
              <a:lnSpc>
                <a:spcPct val="115000"/>
              </a:lnSpc>
            </a:pPr>
            <a:endParaRPr lang="pt-BR" sz="2000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section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&lt;h2&gt;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título sessão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&lt;/h2&gt;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&lt;p&gt;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parágrafo 1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&lt;/p&gt;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section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15000"/>
              </a:lnSpc>
            </a:pPr>
            <a:endParaRPr lang="pt-BR" sz="2000" dirty="0"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section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&lt;h2&gt;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título sessão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&lt;/h2&gt;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&lt;p&gt;</a:t>
            </a: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parágrafo 1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&lt;/p&gt;</a:t>
            </a:r>
          </a:p>
          <a:p>
            <a:pPr lvl="0">
              <a:lnSpc>
                <a:spcPct val="115000"/>
              </a:lnSpc>
            </a:pPr>
            <a:r>
              <a:rPr lang="pt-BR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section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  <a:p>
            <a:pPr lvl="0">
              <a:lnSpc>
                <a:spcPct val="115000"/>
              </a:lnSpc>
            </a:pPr>
            <a:endParaRPr lang="pt-BR" sz="2000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15000"/>
              </a:lnSpc>
            </a:pP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</a:t>
            </a:r>
            <a:r>
              <a:rPr lang="pt-BR" sz="2000" dirty="0" err="1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main</a:t>
            </a:r>
            <a:r>
              <a:rPr lang="pt-BR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9CAC8DD-69EF-4E3C-A08A-1DE33A518619}"/>
              </a:ext>
            </a:extLst>
          </p:cNvPr>
          <p:cNvSpPr/>
          <p:nvPr/>
        </p:nvSpPr>
        <p:spPr>
          <a:xfrm>
            <a:off x="7455876" y="847972"/>
            <a:ext cx="4318781" cy="374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endParaRPr lang="pt-BR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50000"/>
              </a:lnSpc>
            </a:pPr>
            <a:r>
              <a:rPr lang="pt-BR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</a:p>
          <a:p>
            <a:pPr lvl="0">
              <a:lnSpc>
                <a:spcPct val="150000"/>
              </a:lnSpc>
            </a:pPr>
            <a:endParaRPr lang="pt-BR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50000"/>
              </a:lnSpc>
            </a:pPr>
            <a:endParaRPr lang="pt-BR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50000"/>
              </a:lnSpc>
            </a:pPr>
            <a:endParaRPr lang="pt-BR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&lt;footer&gt;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</a:t>
            </a:r>
            <a:r>
              <a:rPr lang="en-US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&lt;p&gt;</a:t>
            </a:r>
            <a:r>
              <a:rPr lang="en-US" sz="2000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dev.web</a:t>
            </a:r>
            <a:r>
              <a:rPr lang="en-US" sz="2000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- 2022</a:t>
            </a:r>
            <a:r>
              <a:rPr lang="en-US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&lt;/p&gt;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&lt;/footer&gt;</a:t>
            </a:r>
            <a:endParaRPr lang="en-US" sz="2000" dirty="0">
              <a:highlight>
                <a:srgbClr val="FFFFFF"/>
              </a:highlight>
            </a:endParaRPr>
          </a:p>
          <a:p>
            <a:pPr lvl="0">
              <a:lnSpc>
                <a:spcPct val="115000"/>
              </a:lnSpc>
            </a:pPr>
            <a:endParaRPr lang="pt-BR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D78F4F-27D5-BDEA-E82C-89526ECB7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99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33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68958-FF09-4D43-A641-320BC524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8474"/>
            <a:ext cx="10213146" cy="960647"/>
          </a:xfrm>
        </p:spPr>
        <p:txBody>
          <a:bodyPr/>
          <a:lstStyle/>
          <a:p>
            <a:r>
              <a:rPr lang="pt-BR" dirty="0"/>
              <a:t>       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&gt; mais comuns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FDEB6E-5AF8-4324-BBB8-C195215C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45588"/>
            <a:ext cx="4600135" cy="6013938"/>
          </a:xfrm>
        </p:spPr>
        <p:txBody>
          <a:bodyPr>
            <a:normAutofit fontScale="85000" lnSpcReduction="2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&lt;!-- comentário --&gt;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&lt;h1&gt;: Texto de Título, número 1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&lt;h2&gt;: segundo título. </a:t>
            </a:r>
          </a:p>
          <a:p>
            <a:pPr lvl="0" indent="457200">
              <a:lnSpc>
                <a:spcPct val="100000"/>
              </a:lnSpc>
              <a:spcBef>
                <a:spcPts val="0"/>
              </a:spcBef>
            </a:pPr>
            <a:r>
              <a:rPr lang="pt-BR" sz="1800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(continua até &lt;h6&gt;)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&lt;p&gt;: novo parágrafo.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br</a:t>
            </a: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quebra de linha.</a:t>
            </a:r>
            <a:endParaRPr lang="pt-BR" b="1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endParaRPr lang="pt-BR" b="1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&lt;a&gt;: um hiperlink, ou apenas: 'link'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b="1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img</a:t>
            </a: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imagem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b="1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button</a:t>
            </a: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a </a:t>
            </a:r>
            <a:r>
              <a:rPr lang="pt-BR" b="1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button</a:t>
            </a:r>
            <a:endParaRPr lang="pt-BR" b="1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endParaRPr lang="pt-BR" b="1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&lt;em&gt;: texto enfatizado (itálico)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b="1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strong</a:t>
            </a:r>
            <a:r>
              <a:rPr lang="pt-BR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texto importante (negrito)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ul</a:t>
            </a: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Lista não ordenada -- </a:t>
            </a:r>
            <a:r>
              <a:rPr lang="pt-BR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bullets</a:t>
            </a:r>
            <a:endParaRPr lang="pt-BR" dirty="0">
              <a:solidFill>
                <a:schemeClr val="tx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dirty="0" err="1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ol</a:t>
            </a: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&gt;: lista Ordenada -- números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&lt;li&gt;: item de uma lista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85F7CE-6D9A-4BC1-8A66-5B31399AF26A}"/>
              </a:ext>
            </a:extLst>
          </p:cNvPr>
          <p:cNvSpPr/>
          <p:nvPr/>
        </p:nvSpPr>
        <p:spPr>
          <a:xfrm>
            <a:off x="4543865" y="1059121"/>
            <a:ext cx="4600135" cy="4467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pt-BR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/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div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bloco invisível</a:t>
            </a:r>
          </a:p>
          <a:p>
            <a:pPr lvl="0" indent="457200"/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usado para formatar de sessões</a:t>
            </a:r>
          </a:p>
          <a:p>
            <a:pPr lvl="0">
              <a:spcBef>
                <a:spcPts val="1000"/>
              </a:spcBef>
            </a:pP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span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marca texto - invisível</a:t>
            </a:r>
          </a:p>
          <a:p>
            <a:pPr lvl="0" indent="457200"/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usado para dar estilo a um trecho de texto</a:t>
            </a:r>
          </a:p>
          <a:p>
            <a:pPr lvl="0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/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table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tabela </a:t>
            </a:r>
          </a:p>
          <a:p>
            <a:pPr lvl="0"/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tr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linhas da tabela</a:t>
            </a:r>
          </a:p>
          <a:p>
            <a:pPr lvl="0"/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td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</a:t>
            </a:r>
            <a:r>
              <a:rPr lang="pt-BR" sz="2000" b="1" dirty="0" err="1">
                <a:latin typeface="Source Code Pro"/>
                <a:ea typeface="Source Code Pro"/>
                <a:cs typeface="Source Code Pro"/>
                <a:sym typeface="Source Code Pro"/>
              </a:rPr>
              <a:t>table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 data: células da tabela</a:t>
            </a:r>
          </a:p>
          <a:p>
            <a:pPr lvl="0"/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sz="2000" b="1" dirty="0" err="1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</a:t>
            </a:r>
            <a:r>
              <a:rPr lang="pt-BR" sz="2000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r>
              <a:rPr lang="pt-BR" sz="2000" b="1" dirty="0">
                <a:latin typeface="Source Code Pro"/>
                <a:ea typeface="Source Code Pro"/>
                <a:cs typeface="Source Code Pro"/>
                <a:sym typeface="Source Code Pro"/>
              </a:rPr>
              <a:t>: cabeçalho de tabelas</a:t>
            </a:r>
            <a:endParaRPr lang="pt-BR" sz="2000" b="1" dirty="0"/>
          </a:p>
          <a:p>
            <a:pPr lvl="0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AFFEA9-8E70-4E44-BF20-CBF60B428291}"/>
              </a:ext>
            </a:extLst>
          </p:cNvPr>
          <p:cNvSpPr/>
          <p:nvPr/>
        </p:nvSpPr>
        <p:spPr>
          <a:xfrm>
            <a:off x="8201465" y="2133774"/>
            <a:ext cx="384048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endParaRPr lang="pt-BR" sz="2000" b="1" dirty="0">
              <a:solidFill>
                <a:srgbClr val="8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r>
              <a:rPr lang="pt-BR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&lt;b&gt;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,      </a:t>
            </a:r>
            <a:r>
              <a:rPr lang="pt-BR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&lt;i&gt;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,   </a:t>
            </a:r>
            <a:r>
              <a:rPr lang="pt-BR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&lt;u&gt;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, </a:t>
            </a:r>
            <a:r>
              <a:rPr lang="pt-BR" b="1" dirty="0">
                <a:solidFill>
                  <a:srgbClr val="8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&lt;s&gt;:</a:t>
            </a:r>
            <a:endParaRPr lang="pt-BR"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lvl="0" algn="just"/>
            <a:r>
              <a:rPr lang="pt-BR" b="1" dirty="0" err="1">
                <a:latin typeface="Source Code Pro"/>
                <a:ea typeface="Source Code Pro"/>
                <a:cs typeface="Source Code Pro"/>
                <a:sym typeface="Source Code Pro"/>
              </a:rPr>
              <a:t>negrito,itálico,sublinhado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 e riscado. Não utilizado atualmente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766745-8F53-B3D3-8C72-FEF426613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7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3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87E17-09ED-488D-BB66-5AB08C52A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350" y="2"/>
            <a:ext cx="8365099" cy="970670"/>
          </a:xfrm>
        </p:spPr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CRIAÇÃO DE CSS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44504A-1619-47A7-9E92-A2394962D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88123"/>
            <a:ext cx="4837430" cy="4401527"/>
          </a:xfrm>
        </p:spPr>
        <p:txBody>
          <a:bodyPr>
            <a:normAutofit/>
          </a:bodyPr>
          <a:lstStyle/>
          <a:p>
            <a:pPr marL="457200" lvl="0" indent="-298450">
              <a:buSzPts val="1100"/>
              <a:buChar char="✠"/>
            </a:pPr>
            <a:r>
              <a:rPr lang="pt-BR" b="1" dirty="0">
                <a:solidFill>
                  <a:schemeClr val="tx1"/>
                </a:solidFill>
              </a:rPr>
              <a:t>Pasta principal</a:t>
            </a:r>
          </a:p>
          <a:p>
            <a:pPr marL="914400" lvl="1" indent="-342900">
              <a:spcBef>
                <a:spcPts val="0"/>
              </a:spcBef>
              <a:buSzPts val="1800"/>
              <a:buFont typeface="Source Code Pro"/>
              <a:buChar char="⇢"/>
            </a:pPr>
            <a:r>
              <a:rPr lang="pt-BR" sz="2400" b="1" dirty="0">
                <a:solidFill>
                  <a:schemeClr val="tx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C:\Documentos\meu-site</a:t>
            </a:r>
          </a:p>
          <a:p>
            <a:pPr marL="457200" lvl="0"/>
            <a:endParaRPr lang="pt-BR" b="1" dirty="0">
              <a:solidFill>
                <a:schemeClr val="tx1"/>
              </a:solidFill>
            </a:endParaRPr>
          </a:p>
          <a:p>
            <a:pPr marL="457200" lvl="0" indent="-298450">
              <a:buSzPts val="1100"/>
              <a:buChar char="✠"/>
            </a:pPr>
            <a:r>
              <a:rPr lang="pt-BR" b="1" dirty="0">
                <a:solidFill>
                  <a:schemeClr val="tx1"/>
                </a:solidFill>
              </a:rPr>
              <a:t>Pastas secundárias:</a:t>
            </a:r>
          </a:p>
          <a:p>
            <a:pPr marL="914400" lvl="1" indent="-342900">
              <a:spcBef>
                <a:spcPts val="0"/>
              </a:spcBef>
              <a:buSzPts val="1800"/>
              <a:buChar char="⇢"/>
            </a:pPr>
            <a:r>
              <a:rPr lang="pt-BR" sz="2400" b="1" dirty="0" err="1">
                <a:solidFill>
                  <a:schemeClr val="tx1"/>
                </a:solidFill>
              </a:rPr>
              <a:t>css</a:t>
            </a:r>
            <a:endParaRPr lang="pt-BR" sz="2400" b="1" dirty="0">
              <a:solidFill>
                <a:schemeClr val="tx1"/>
              </a:solidFill>
            </a:endParaRPr>
          </a:p>
          <a:p>
            <a:pPr marL="914400" lvl="1" indent="-342900">
              <a:spcBef>
                <a:spcPts val="0"/>
              </a:spcBef>
              <a:buSzPts val="1800"/>
              <a:buChar char="⇢"/>
            </a:pPr>
            <a:r>
              <a:rPr lang="pt-BR" sz="2400" b="1" dirty="0" err="1">
                <a:solidFill>
                  <a:schemeClr val="tx1"/>
                </a:solidFill>
              </a:rPr>
              <a:t>img</a:t>
            </a:r>
            <a:endParaRPr lang="pt-BR" sz="2400" b="1" dirty="0">
              <a:solidFill>
                <a:schemeClr val="tx1"/>
              </a:solidFill>
            </a:endParaRPr>
          </a:p>
          <a:p>
            <a:pPr marL="914400" lvl="1" indent="-342900">
              <a:spcBef>
                <a:spcPts val="0"/>
              </a:spcBef>
              <a:buSzPts val="1800"/>
              <a:buChar char="⇢"/>
            </a:pPr>
            <a:r>
              <a:rPr lang="pt-BR" sz="2400" b="1" dirty="0">
                <a:solidFill>
                  <a:schemeClr val="tx1"/>
                </a:solidFill>
              </a:rPr>
              <a:t>outras (caso precise)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9D8B74-0BB3-479E-A854-9C05EC6A3949}"/>
              </a:ext>
            </a:extLst>
          </p:cNvPr>
          <p:cNvSpPr/>
          <p:nvPr/>
        </p:nvSpPr>
        <p:spPr>
          <a:xfrm>
            <a:off x="7160454" y="2700083"/>
            <a:ext cx="4543865" cy="1913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400" b="1" dirty="0">
                <a:latin typeface="Source Code Pro"/>
                <a:ea typeface="Source Code Pro"/>
                <a:cs typeface="Source Code Pro"/>
                <a:sym typeface="Source Code Pro"/>
              </a:rPr>
              <a:t>C:\Documentos\meu-site\</a:t>
            </a:r>
          </a:p>
          <a:p>
            <a:pPr lvl="0">
              <a:lnSpc>
                <a:spcPct val="135714"/>
              </a:lnSpc>
            </a:pPr>
            <a:r>
              <a:rPr lang="pt-BR" sz="24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📝index.html</a:t>
            </a:r>
          </a:p>
          <a:p>
            <a:pPr lvl="0">
              <a:lnSpc>
                <a:spcPct val="135714"/>
              </a:lnSpc>
            </a:pPr>
            <a:r>
              <a:rPr lang="pt-BR" sz="24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📂</a:t>
            </a:r>
            <a:r>
              <a:rPr lang="pt-BR" sz="2400" b="1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css</a:t>
            </a:r>
            <a:r>
              <a:rPr lang="pt-BR" sz="24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\</a:t>
            </a:r>
          </a:p>
          <a:p>
            <a:pPr lvl="0">
              <a:lnSpc>
                <a:spcPct val="135714"/>
              </a:lnSpc>
            </a:pPr>
            <a:r>
              <a:rPr lang="pt-BR" sz="24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	📂</a:t>
            </a:r>
            <a:r>
              <a:rPr lang="pt-BR" sz="2400" b="1" dirty="0" err="1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img</a:t>
            </a:r>
            <a:r>
              <a:rPr lang="pt-BR" sz="24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\</a:t>
            </a:r>
            <a:endParaRPr lang="pt-BR" sz="2400" b="1" dirty="0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AD18A3-5B1D-8699-4077-8D3EBB0D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97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0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AEAAE-96D9-4A7F-A698-8F1E8E2E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425" y="2"/>
            <a:ext cx="10025575" cy="956602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Sintaxe do CSS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D57B3C-2493-40A6-8633-39EF793C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96087"/>
            <a:ext cx="10515600" cy="3993564"/>
          </a:xfrm>
        </p:spPr>
        <p:txBody>
          <a:bodyPr>
            <a:normAutofit fontScale="85000" lnSpcReduction="20000"/>
          </a:bodyPr>
          <a:lstStyle/>
          <a:p>
            <a:pPr marL="457200" lvl="0" indent="-298450">
              <a:buSzPts val="1100"/>
              <a:buChar char="✠"/>
            </a:pPr>
            <a:r>
              <a:rPr lang="pt-BR" sz="2800" b="1" dirty="0">
                <a:solidFill>
                  <a:schemeClr val="tx1"/>
                </a:solidFill>
              </a:rPr>
              <a:t>Dentro do CSS, escrevemos aquilo que queremos alterar.</a:t>
            </a:r>
          </a:p>
          <a:p>
            <a:pPr marL="457200" lvl="0" indent="-298450">
              <a:buSzPts val="1100"/>
              <a:buChar char="✠"/>
            </a:pPr>
            <a:r>
              <a:rPr lang="pt-BR" sz="2800" b="1" dirty="0">
                <a:solidFill>
                  <a:schemeClr val="tx1"/>
                </a:solidFill>
              </a:rPr>
              <a:t>Para alterar o parágrafo, criamos o seletor:  </a:t>
            </a:r>
            <a:r>
              <a:rPr lang="pt-BR" sz="2800" b="1" dirty="0">
                <a:solidFill>
                  <a:schemeClr val="tx1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</a:p>
          <a:p>
            <a:pPr marL="914400" lvl="1" indent="-342900">
              <a:spcBef>
                <a:spcPts val="0"/>
              </a:spcBef>
              <a:buSzPts val="1800"/>
              <a:buChar char="⇢"/>
            </a:pPr>
            <a:r>
              <a:rPr lang="pt-BR" sz="2800" b="1" dirty="0">
                <a:solidFill>
                  <a:schemeClr val="tx1"/>
                </a:solidFill>
              </a:rPr>
              <a:t>dentro do seletor escrevemos as configurações de estilo que queremos para o site.</a:t>
            </a:r>
          </a:p>
          <a:p>
            <a:pPr marL="914400" lvl="1" indent="-342900">
              <a:spcBef>
                <a:spcPts val="0"/>
              </a:spcBef>
              <a:buSzPts val="1800"/>
              <a:buChar char="⇢"/>
            </a:pPr>
            <a:r>
              <a:rPr lang="pt-BR" sz="2800" b="1" dirty="0">
                <a:solidFill>
                  <a:schemeClr val="tx1"/>
                </a:solidFill>
              </a:rPr>
              <a:t>queremos para o site.</a:t>
            </a:r>
          </a:p>
          <a:p>
            <a:endParaRPr lang="pt-BR" sz="2800" b="1" dirty="0">
              <a:solidFill>
                <a:schemeClr val="tx1"/>
              </a:solidFill>
            </a:endParaRPr>
          </a:p>
          <a:p>
            <a:pPr lvl="0">
              <a:lnSpc>
                <a:spcPct val="133333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</a:t>
            </a: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{</a:t>
            </a:r>
          </a:p>
          <a:p>
            <a:pPr lvl="0">
              <a:lnSpc>
                <a:spcPct val="133333"/>
              </a:lnSpc>
              <a:spcBef>
                <a:spcPts val="0"/>
              </a:spcBef>
            </a:pP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sz="2600" b="1" dirty="0">
                <a:solidFill>
                  <a:srgbClr val="FF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color</a:t>
            </a: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: </a:t>
            </a:r>
            <a:r>
              <a:rPr lang="en-US" sz="2600" b="1" dirty="0">
                <a:solidFill>
                  <a:srgbClr val="0451A5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red</a:t>
            </a: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;</a:t>
            </a:r>
          </a:p>
          <a:p>
            <a:pPr lvl="0">
              <a:lnSpc>
                <a:spcPct val="133333"/>
              </a:lnSpc>
              <a:spcBef>
                <a:spcPts val="0"/>
              </a:spcBef>
            </a:pP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en-US" sz="2600" b="1" dirty="0">
                <a:solidFill>
                  <a:srgbClr val="FF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background-color</a:t>
            </a: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: </a:t>
            </a:r>
            <a:r>
              <a:rPr lang="en-US" sz="2600" b="1" dirty="0" err="1">
                <a:solidFill>
                  <a:srgbClr val="0451A5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lightgrey</a:t>
            </a: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;</a:t>
            </a:r>
          </a:p>
          <a:p>
            <a:pPr lvl="0">
              <a:lnSpc>
                <a:spcPct val="133333"/>
              </a:lnSpc>
              <a:spcBef>
                <a:spcPts val="0"/>
              </a:spcBef>
            </a:pPr>
            <a:r>
              <a:rPr lang="en-US" sz="2600" b="1" dirty="0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}</a:t>
            </a:r>
          </a:p>
          <a:p>
            <a:pPr>
              <a:lnSpc>
                <a:spcPct val="133333"/>
              </a:lnSpc>
              <a:spcBef>
                <a:spcPts val="0"/>
              </a:spcBef>
            </a:pPr>
            <a:r>
              <a:rPr lang="pt-BR" sz="2600" b="1" dirty="0">
                <a:solidFill>
                  <a:srgbClr val="212121"/>
                </a:solidFill>
              </a:rPr>
              <a:t>Salve o estilo.css dentro da pasta </a:t>
            </a:r>
            <a:r>
              <a:rPr lang="pt-BR" sz="2600" b="1" dirty="0" err="1">
                <a:solidFill>
                  <a:srgbClr val="212121"/>
                </a:solidFill>
              </a:rPr>
              <a:t>css</a:t>
            </a:r>
            <a:r>
              <a:rPr lang="pt-BR" sz="2600" b="1" dirty="0">
                <a:solidFill>
                  <a:srgbClr val="212121"/>
                </a:solidFill>
              </a:rPr>
              <a:t> de seu projeto</a:t>
            </a:r>
            <a:endParaRPr lang="pt-BR" sz="2600" b="1" dirty="0"/>
          </a:p>
          <a:p>
            <a:pPr lvl="0">
              <a:lnSpc>
                <a:spcPct val="133333"/>
              </a:lnSpc>
              <a:spcBef>
                <a:spcPts val="0"/>
              </a:spcBef>
            </a:pPr>
            <a:endParaRPr lang="en-US" dirty="0"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8887D3-7B88-8996-A326-34CC54DE7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95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5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F41626F9-9E5F-4E26-AAAA-ED9701924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4051" y="160300"/>
            <a:ext cx="8360898" cy="1424987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SELETORES</a:t>
            </a:r>
          </a:p>
        </p:txBody>
      </p:sp>
      <p:sp>
        <p:nvSpPr>
          <p:cNvPr id="124" name="Google Shape;124;p21"/>
          <p:cNvSpPr txBox="1"/>
          <p:nvPr/>
        </p:nvSpPr>
        <p:spPr>
          <a:xfrm>
            <a:off x="4115100" y="3552867"/>
            <a:ext cx="5058800" cy="193843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33333"/>
              </a:lnSpc>
            </a:pPr>
            <a:r>
              <a:rPr lang="pt-BR" sz="2067" dirty="0">
                <a:solidFill>
                  <a:srgbClr val="80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</a:t>
            </a: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{</a:t>
            </a:r>
            <a:endParaRPr sz="2067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 dirty="0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color</a:t>
            </a: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: </a:t>
            </a:r>
            <a:r>
              <a:rPr lang="pt-BR" sz="2067" dirty="0" err="1">
                <a:solidFill>
                  <a:srgbClr val="0451A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red</a:t>
            </a: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;</a:t>
            </a:r>
            <a:endParaRPr sz="2067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 dirty="0">
                <a:solidFill>
                  <a:srgbClr val="FF000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background-color</a:t>
            </a: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: </a:t>
            </a:r>
            <a:r>
              <a:rPr lang="pt-BR" sz="2067" dirty="0" err="1">
                <a:solidFill>
                  <a:srgbClr val="0451A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lightgrey</a:t>
            </a: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;</a:t>
            </a:r>
            <a:endParaRPr sz="2067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 dirty="0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}</a:t>
            </a:r>
            <a:endParaRPr sz="2067" dirty="0"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3406567" y="2480833"/>
            <a:ext cx="1830400" cy="10720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FFFFFF"/>
          </a:solidFill>
          <a:ln w="19050" cap="flat" cmpd="sng">
            <a:solidFill>
              <a:srgbClr val="4A4A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 b="1" dirty="0">
                <a:latin typeface="Verdana"/>
                <a:ea typeface="Verdana"/>
                <a:cs typeface="Verdana"/>
                <a:sym typeface="Verdana"/>
              </a:rPr>
              <a:t>Seletor</a:t>
            </a:r>
            <a:endParaRPr sz="2400" b="1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940667" y="3823067"/>
            <a:ext cx="2402400" cy="1007600"/>
          </a:xfrm>
          <a:prstGeom prst="flowChartAlternateProcess">
            <a:avLst/>
          </a:prstGeom>
          <a:solidFill>
            <a:srgbClr val="FFFFFF"/>
          </a:solidFill>
          <a:ln w="28575" cap="flat" cmpd="sng">
            <a:solidFill>
              <a:srgbClr val="7C7C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 dirty="0">
                <a:solidFill>
                  <a:srgbClr val="212121"/>
                </a:solidFill>
              </a:rPr>
              <a:t>Início e fim do código do Seletor.</a:t>
            </a:r>
            <a:endParaRPr sz="2400" dirty="0">
              <a:solidFill>
                <a:srgbClr val="212121"/>
              </a:solidFill>
            </a:endParaRPr>
          </a:p>
        </p:txBody>
      </p:sp>
      <p:cxnSp>
        <p:nvCxnSpPr>
          <p:cNvPr id="127" name="Google Shape;127;p21"/>
          <p:cNvCxnSpPr>
            <a:cxnSpLocks/>
            <a:stCxn id="126" idx="3"/>
          </p:cNvCxnSpPr>
          <p:nvPr/>
        </p:nvCxnSpPr>
        <p:spPr>
          <a:xfrm flipV="1">
            <a:off x="3343067" y="3960467"/>
            <a:ext cx="1241600" cy="366400"/>
          </a:xfrm>
          <a:prstGeom prst="straightConnector1">
            <a:avLst/>
          </a:prstGeom>
          <a:noFill/>
          <a:ln w="9525" cap="flat" cmpd="sng">
            <a:solidFill>
              <a:srgbClr val="7C7CE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28" name="Google Shape;128;p21"/>
          <p:cNvCxnSpPr>
            <a:cxnSpLocks/>
            <a:stCxn id="126" idx="3"/>
          </p:cNvCxnSpPr>
          <p:nvPr/>
        </p:nvCxnSpPr>
        <p:spPr>
          <a:xfrm>
            <a:off x="3343067" y="4326867"/>
            <a:ext cx="843600" cy="732400"/>
          </a:xfrm>
          <a:prstGeom prst="straightConnector1">
            <a:avLst/>
          </a:prstGeom>
          <a:noFill/>
          <a:ln w="9525" cap="flat" cmpd="sng">
            <a:solidFill>
              <a:srgbClr val="7C7CE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9" name="Google Shape;129;p21"/>
          <p:cNvSpPr/>
          <p:nvPr/>
        </p:nvSpPr>
        <p:spPr>
          <a:xfrm>
            <a:off x="10154300" y="3997467"/>
            <a:ext cx="1729600" cy="947600"/>
          </a:xfrm>
          <a:prstGeom prst="flowChartAlternateProcess">
            <a:avLst/>
          </a:prstGeom>
          <a:solidFill>
            <a:srgbClr val="FFFFFF"/>
          </a:solidFill>
          <a:ln w="28575" cap="flat" cmpd="sng">
            <a:solidFill>
              <a:srgbClr val="7C7C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>
                <a:solidFill>
                  <a:srgbClr val="212121"/>
                </a:solidFill>
              </a:rPr>
              <a:t>Código do estilo!</a:t>
            </a:r>
            <a:endParaRPr sz="2400">
              <a:solidFill>
                <a:srgbClr val="212121"/>
              </a:solidFill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9644067" y="3500433"/>
            <a:ext cx="194000" cy="1889200"/>
          </a:xfrm>
          <a:prstGeom prst="rightBrace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8575" cap="flat" cmpd="sng">
            <a:solidFill>
              <a:srgbClr val="7C7C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21212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4EF48C2-5646-34DA-F4A6-CBAC97853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74257" cy="100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367" y="1887534"/>
            <a:ext cx="7552868" cy="426513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/>
        </p:nvSpPr>
        <p:spPr>
          <a:xfrm>
            <a:off x="2468767" y="6245667"/>
            <a:ext cx="86644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pt-BR" sz="1333">
                <a:latin typeface="Lexend"/>
                <a:ea typeface="Lexend"/>
                <a:cs typeface="Lexend"/>
                <a:sym typeface="Lexend"/>
              </a:rPr>
              <a:t>fonte: https://developer.mozilla.org/pt-BR/docs/Learn/Getting_started_with_the_web/CSS_basics</a:t>
            </a:r>
            <a:endParaRPr sz="1333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2358886" y="43415"/>
            <a:ext cx="9711194" cy="164727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t-BR" sz="6000" dirty="0"/>
              <a:t>Propriedades e valores...</a:t>
            </a:r>
            <a:endParaRPr sz="60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DBCF3B8-10F5-FC62-CD7B-E6D776BFD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74257" cy="1009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1617784" y="112542"/>
            <a:ext cx="10156874" cy="70338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buSzPts val="990"/>
            </a:pPr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Aplicando seu estilo</a:t>
            </a:r>
            <a:endParaRPr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Google Shape;142;p23"/>
          <p:cNvSpPr txBox="1">
            <a:spLocks noGrp="1"/>
          </p:cNvSpPr>
          <p:nvPr>
            <p:ph type="body" idx="4294967295"/>
          </p:nvPr>
        </p:nvSpPr>
        <p:spPr>
          <a:xfrm>
            <a:off x="773723" y="1012875"/>
            <a:ext cx="11155680" cy="1130334"/>
          </a:xfrm>
          <a:prstGeom prst="rect">
            <a:avLst/>
          </a:prstGeom>
        </p:spPr>
        <p:txBody>
          <a:bodyPr spcFirstLastPara="1" vert="horz" wrap="square" lIns="0" tIns="48000" rIns="121900" bIns="48000" rtlCol="0" anchor="t" anchorCtr="0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Para adicionar um estilo, será preciso criar 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&lt;</a:t>
            </a:r>
            <a:r>
              <a:rPr lang="pt-BR" b="1" dirty="0" err="1">
                <a:latin typeface="Source Code Pro"/>
                <a:ea typeface="Source Code Pro"/>
                <a:cs typeface="Source Code Pro"/>
                <a:sym typeface="Source Code Pro"/>
              </a:rPr>
              <a:t>head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&gt;</a:t>
            </a:r>
            <a:endParaRPr b="1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linha que insere o estilo inicia com </a:t>
            </a:r>
            <a:r>
              <a:rPr lang="pt-BR" b="1" dirty="0">
                <a:latin typeface="Source Code Pro"/>
                <a:ea typeface="Source Code Pro"/>
                <a:cs typeface="Source Code Pro"/>
                <a:sym typeface="Source Code Pro"/>
              </a:rPr>
              <a:t>&lt;link ...</a:t>
            </a:r>
            <a:r>
              <a:rPr lang="pt-BR" dirty="0"/>
              <a:t> </a:t>
            </a:r>
            <a:endParaRPr dirty="0"/>
          </a:p>
        </p:txBody>
      </p:sp>
      <p:sp>
        <p:nvSpPr>
          <p:cNvPr id="144" name="Google Shape;144;p23"/>
          <p:cNvSpPr txBox="1"/>
          <p:nvPr/>
        </p:nvSpPr>
        <p:spPr>
          <a:xfrm>
            <a:off x="120633" y="2900400"/>
            <a:ext cx="8261200" cy="405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33333"/>
              </a:lnSpc>
            </a:pP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&lt;html&gt;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&lt;head&gt;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&lt;link</a:t>
            </a: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sz="2067">
                <a:solidFill>
                  <a:srgbClr val="FF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href</a:t>
            </a: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sz="2067">
                <a:solidFill>
                  <a:srgbClr val="0000FF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"css/estilo.css"</a:t>
            </a: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r>
              <a:rPr lang="pt-BR" sz="2067">
                <a:solidFill>
                  <a:srgbClr val="FF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rel</a:t>
            </a: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=</a:t>
            </a:r>
            <a:r>
              <a:rPr lang="pt-BR" sz="2067">
                <a:solidFill>
                  <a:srgbClr val="0000FF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"stylesheet"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&lt;/head&gt;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</a:t>
            </a:r>
            <a:endParaRPr sz="2067"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&lt;body&gt;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   </a:t>
            </a:r>
            <a:r>
              <a:rPr lang="pt-BR" sz="2067">
                <a:solidFill>
                  <a:schemeClr val="accent1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... código digitado anteriormente ...</a:t>
            </a:r>
            <a:endParaRPr sz="2067">
              <a:solidFill>
                <a:schemeClr val="accent1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  </a:t>
            </a: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&lt;/body&gt;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>
              <a:lnSpc>
                <a:spcPct val="133333"/>
              </a:lnSpc>
            </a:pPr>
            <a:r>
              <a:rPr lang="pt-BR" sz="2067">
                <a:solidFill>
                  <a:srgbClr val="800000"/>
                </a:solidFill>
                <a:highlight>
                  <a:srgbClr val="FFFFFF"/>
                </a:highlight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&lt;/html&gt;</a:t>
            </a:r>
            <a:endParaRPr sz="2067">
              <a:solidFill>
                <a:srgbClr val="800000"/>
              </a:solidFill>
              <a:highlight>
                <a:srgbClr val="FFFFFF"/>
              </a:highlight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2227033" y="2143210"/>
            <a:ext cx="3751736" cy="1556594"/>
          </a:xfrm>
          <a:prstGeom prst="downArrowCallout">
            <a:avLst>
              <a:gd name="adj1" fmla="val 20814"/>
              <a:gd name="adj2" fmla="val 24307"/>
              <a:gd name="adj3" fmla="val 25000"/>
              <a:gd name="adj4" fmla="val 64977"/>
            </a:avLst>
          </a:prstGeom>
          <a:solidFill>
            <a:srgbClr val="FFFFFF"/>
          </a:solidFill>
          <a:ln w="19050" cap="flat" cmpd="sng">
            <a:solidFill>
              <a:srgbClr val="4A4A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pt-BR" sz="2400" dirty="0">
                <a:latin typeface="Verdana"/>
                <a:ea typeface="Verdana"/>
                <a:cs typeface="Verdana"/>
                <a:sym typeface="Verdana"/>
              </a:rPr>
              <a:t>Acrescentando diretório e nome do arquivo de estilo!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8DD9895-AAB2-9BF2-C492-944587A9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74257" cy="10128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1913206" y="126609"/>
            <a:ext cx="9440594" cy="10040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Renderização</a:t>
            </a:r>
            <a:endParaRPr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4294967295"/>
          </p:nvPr>
        </p:nvSpPr>
        <p:spPr>
          <a:xfrm>
            <a:off x="0" y="2352675"/>
            <a:ext cx="6353175" cy="1663700"/>
          </a:xfrm>
          <a:prstGeom prst="rect">
            <a:avLst/>
          </a:prstGeom>
        </p:spPr>
        <p:txBody>
          <a:bodyPr spcFirstLastPara="1" vert="horz" wrap="square" lIns="0" tIns="48000" rIns="121900" bIns="48000" rtlCol="0" anchor="t" anchorCtr="0">
            <a:normAutofit/>
          </a:bodyPr>
          <a:lstStyle/>
          <a:p>
            <a:pPr lvl="1"/>
            <a:r>
              <a:rPr lang="pt-BR" b="1">
                <a:latin typeface="Source Code Pro"/>
                <a:ea typeface="Source Code Pro"/>
                <a:cs typeface="Source Code Pro"/>
                <a:sym typeface="Source Code Pro"/>
              </a:rPr>
              <a:t>renderização</a:t>
            </a:r>
            <a:r>
              <a:rPr lang="pt-BR"/>
              <a:t> é o processo executado no browser que </a:t>
            </a:r>
            <a:r>
              <a:rPr lang="pt-BR" b="1">
                <a:latin typeface="Source Code Pro"/>
                <a:ea typeface="Source Code Pro"/>
                <a:cs typeface="Source Code Pro"/>
                <a:sym typeface="Source Code Pro"/>
              </a:rPr>
              <a:t>lê</a:t>
            </a:r>
            <a:r>
              <a:rPr lang="pt-BR"/>
              <a:t> o código HTML, </a:t>
            </a:r>
            <a:r>
              <a:rPr lang="pt-BR" b="1">
                <a:latin typeface="Source Code Pro"/>
                <a:ea typeface="Source Code Pro"/>
                <a:cs typeface="Source Code Pro"/>
                <a:sym typeface="Source Code Pro"/>
              </a:rPr>
              <a:t>aplica</a:t>
            </a:r>
            <a:r>
              <a:rPr lang="pt-BR"/>
              <a:t> o estilo e imprime na tela o conteúdo.</a:t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100" y="1130800"/>
            <a:ext cx="4188736" cy="543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1561700" y="5871934"/>
            <a:ext cx="5456400" cy="697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pt-BR" sz="1467">
                <a:latin typeface="Calibri"/>
                <a:ea typeface="Calibri"/>
                <a:cs typeface="Calibri"/>
                <a:sym typeface="Calibri"/>
              </a:rPr>
              <a:t>Neste exemplo, nossa página ficou com os parágrafos em vermelho com o fundo em cinza, como programado no </a:t>
            </a:r>
            <a:r>
              <a:rPr lang="pt-BR" sz="1467" b="1">
                <a:latin typeface="Calibri"/>
                <a:ea typeface="Calibri"/>
                <a:cs typeface="Calibri"/>
                <a:sym typeface="Calibri"/>
              </a:rPr>
              <a:t>estilo.css</a:t>
            </a:r>
            <a:r>
              <a:rPr lang="pt-BR" sz="1467">
                <a:latin typeface="Calibri"/>
                <a:ea typeface="Calibri"/>
                <a:cs typeface="Calibri"/>
                <a:sym typeface="Calibri"/>
              </a:rPr>
              <a:t>.</a:t>
            </a:r>
            <a:endParaRPr sz="1467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20A6A7-328C-9762-533F-12FF6BEC3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3FFD6-A50D-4C2D-B77E-D175FBFC3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415"/>
            <a:ext cx="10095914" cy="94132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ATIVIDADE PROPOSTA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E6636D0-ADB3-4228-957D-E012A04F0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57" y="1645920"/>
            <a:ext cx="11521440" cy="5050302"/>
          </a:xfrm>
        </p:spPr>
        <p:txBody>
          <a:bodyPr>
            <a:norm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CRIAR UM CODIGO USANDO A LINGUAGEM HTML E O ESTILO CSS</a:t>
            </a:r>
          </a:p>
          <a:p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UMA PAGINA 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TITULO DA PAGINA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INSERIR UMA IMAGEM: JPG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INSERIR UM TEXTO PROPOSTO COM AS SUAS IDEIAS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D97902-5D1B-FE5B-C206-C70BAF9DC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25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6349A-5CD1-6FA4-E672-1014A01CD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966" y="1327079"/>
            <a:ext cx="11450472" cy="4582401"/>
          </a:xfrm>
        </p:spPr>
        <p:txBody>
          <a:bodyPr>
            <a:noAutofit/>
          </a:bodyPr>
          <a:lstStyle/>
          <a:p>
            <a:pPr algn="l"/>
            <a:r>
              <a:rPr lang="pt-BR" sz="2800" b="1" dirty="0"/>
              <a:t>&lt;!DOCTYPE </a:t>
            </a:r>
            <a:r>
              <a:rPr lang="pt-BR" sz="2800" b="1" dirty="0" err="1"/>
              <a:t>html</a:t>
            </a:r>
            <a:r>
              <a:rPr lang="pt-BR" sz="2800" b="1" dirty="0"/>
              <a:t>&gt;</a:t>
            </a:r>
            <a:br>
              <a:rPr lang="pt-BR" sz="2800" b="1" dirty="0"/>
            </a:br>
            <a:r>
              <a:rPr lang="pt-BR" sz="2800" b="1" dirty="0"/>
              <a:t>&lt;</a:t>
            </a:r>
            <a:r>
              <a:rPr lang="pt-BR" sz="2800" b="1" dirty="0" err="1"/>
              <a:t>html</a:t>
            </a:r>
            <a:r>
              <a:rPr lang="pt-BR" sz="2800" b="1" dirty="0"/>
              <a:t>&gt;</a:t>
            </a:r>
            <a:br>
              <a:rPr lang="pt-BR" sz="2800" b="1" dirty="0"/>
            </a:br>
            <a:r>
              <a:rPr lang="pt-BR" sz="2800" b="1" dirty="0"/>
              <a:t>    &lt;</a:t>
            </a:r>
            <a:r>
              <a:rPr lang="pt-BR" sz="2800" b="1" dirty="0" err="1"/>
              <a:t>head</a:t>
            </a:r>
            <a:r>
              <a:rPr lang="pt-BR" sz="2800" b="1" dirty="0"/>
              <a:t>&gt;</a:t>
            </a:r>
            <a:br>
              <a:rPr lang="pt-BR" sz="2800" b="1" dirty="0"/>
            </a:br>
            <a:r>
              <a:rPr lang="pt-BR" sz="2800" b="1" dirty="0"/>
              <a:t>&lt;meta </a:t>
            </a:r>
            <a:r>
              <a:rPr lang="pt-BR" sz="2800" b="1" dirty="0" err="1"/>
              <a:t>charset</a:t>
            </a:r>
            <a:r>
              <a:rPr lang="pt-BR" sz="2800" b="1" dirty="0"/>
              <a:t>="unit-8"&gt;</a:t>
            </a:r>
            <a:br>
              <a:rPr lang="pt-BR" sz="2800" b="1" dirty="0"/>
            </a:br>
            <a:r>
              <a:rPr lang="pt-BR" sz="2800" b="1" dirty="0"/>
              <a:t>&lt;meta http-</a:t>
            </a:r>
            <a:r>
              <a:rPr lang="pt-BR" sz="2800" b="1" dirty="0" err="1"/>
              <a:t>equiv</a:t>
            </a:r>
            <a:r>
              <a:rPr lang="pt-BR" sz="2800" b="1" dirty="0"/>
              <a:t>="X-UA-</a:t>
            </a:r>
            <a:r>
              <a:rPr lang="pt-BR" sz="2800" b="1" dirty="0" err="1"/>
              <a:t>Compatible</a:t>
            </a:r>
            <a:r>
              <a:rPr lang="pt-BR" sz="2800" b="1" dirty="0"/>
              <a:t>" </a:t>
            </a:r>
            <a:r>
              <a:rPr lang="pt-BR" sz="2800" b="1" dirty="0" err="1"/>
              <a:t>content</a:t>
            </a:r>
            <a:r>
              <a:rPr lang="pt-BR" sz="2800" b="1" dirty="0"/>
              <a:t>="IE=</a:t>
            </a:r>
            <a:r>
              <a:rPr lang="pt-BR" sz="2800" b="1" dirty="0" err="1"/>
              <a:t>edge</a:t>
            </a:r>
            <a:r>
              <a:rPr lang="pt-BR" sz="2800" b="1" dirty="0"/>
              <a:t>"&gt;</a:t>
            </a:r>
            <a:br>
              <a:rPr lang="pt-BR" sz="2800" b="1" dirty="0"/>
            </a:br>
            <a:r>
              <a:rPr lang="pt-BR" sz="2800" b="1" dirty="0"/>
              <a:t>&lt;meta </a:t>
            </a:r>
            <a:r>
              <a:rPr lang="pt-BR" sz="2800" b="1" dirty="0" err="1"/>
              <a:t>name</a:t>
            </a:r>
            <a:r>
              <a:rPr lang="pt-BR" sz="2800" b="1" dirty="0"/>
              <a:t>="</a:t>
            </a:r>
            <a:r>
              <a:rPr lang="pt-BR" sz="2800" b="1" dirty="0" err="1"/>
              <a:t>viewport</a:t>
            </a:r>
            <a:r>
              <a:rPr lang="pt-BR" sz="2800" b="1" dirty="0"/>
              <a:t>" </a:t>
            </a:r>
            <a:r>
              <a:rPr lang="pt-BR" sz="2800" b="1" dirty="0" err="1"/>
              <a:t>content</a:t>
            </a:r>
            <a:r>
              <a:rPr lang="pt-BR" sz="2800" b="1" dirty="0"/>
              <a:t>="</a:t>
            </a:r>
            <a:r>
              <a:rPr lang="pt-BR" sz="2800" b="1" dirty="0" err="1"/>
              <a:t>width</a:t>
            </a:r>
            <a:r>
              <a:rPr lang="pt-BR" sz="2800" b="1" dirty="0"/>
              <a:t>=device-</a:t>
            </a:r>
            <a:r>
              <a:rPr lang="pt-BR" sz="2800" b="1" dirty="0" err="1"/>
              <a:t>width</a:t>
            </a:r>
            <a:r>
              <a:rPr lang="pt-BR" sz="2800" b="1" dirty="0"/>
              <a:t>, </a:t>
            </a:r>
            <a:r>
              <a:rPr lang="pt-BR" sz="2800" b="1" dirty="0" err="1"/>
              <a:t>initial-scale</a:t>
            </a:r>
            <a:r>
              <a:rPr lang="pt-BR" sz="2800" b="1" dirty="0"/>
              <a:t>=1.0"&gt;</a:t>
            </a:r>
            <a:br>
              <a:rPr lang="pt-BR" sz="2800" b="1" dirty="0"/>
            </a:br>
            <a:r>
              <a:rPr lang="pt-BR" sz="2800" b="1" dirty="0"/>
              <a:t>&lt;</a:t>
            </a:r>
            <a:r>
              <a:rPr lang="pt-BR" sz="2800" b="1" dirty="0" err="1"/>
              <a:t>title</a:t>
            </a:r>
            <a:r>
              <a:rPr lang="pt-BR" sz="2800" b="1" dirty="0"/>
              <a:t>&gt;Receita&lt;/</a:t>
            </a:r>
            <a:r>
              <a:rPr lang="pt-BR" sz="2800" b="1" dirty="0" err="1"/>
              <a:t>title</a:t>
            </a:r>
            <a:r>
              <a:rPr lang="pt-BR" sz="2800" b="1" dirty="0"/>
              <a:t>&gt;</a:t>
            </a:r>
            <a:br>
              <a:rPr lang="pt-BR" sz="2800" b="1" dirty="0"/>
            </a:br>
            <a:r>
              <a:rPr lang="pt-BR" sz="2800" b="1" dirty="0"/>
              <a:t>&lt;link </a:t>
            </a:r>
            <a:r>
              <a:rPr lang="pt-BR" sz="2800" b="1" dirty="0" err="1"/>
              <a:t>rel</a:t>
            </a:r>
            <a:r>
              <a:rPr lang="pt-BR" sz="2800" b="1" dirty="0"/>
              <a:t>="</a:t>
            </a:r>
            <a:r>
              <a:rPr lang="pt-BR" sz="2800" b="1" dirty="0" err="1"/>
              <a:t>stylesheet</a:t>
            </a:r>
            <a:r>
              <a:rPr lang="pt-BR" sz="2800" b="1" dirty="0"/>
              <a:t>" </a:t>
            </a:r>
            <a:r>
              <a:rPr lang="pt-BR" sz="2800" b="1" dirty="0" err="1"/>
              <a:t>href</a:t>
            </a:r>
            <a:r>
              <a:rPr lang="pt-BR" sz="2800" b="1" dirty="0"/>
              <a:t>="../../</a:t>
            </a:r>
            <a:r>
              <a:rPr lang="pt-BR" sz="2800" b="1" dirty="0" err="1"/>
              <a:t>css</a:t>
            </a:r>
            <a:r>
              <a:rPr lang="pt-BR" sz="2800" b="1" dirty="0"/>
              <a:t>/cuca.css"&gt;</a:t>
            </a:r>
            <a:br>
              <a:rPr lang="pt-BR" sz="2800" b="1" dirty="0"/>
            </a:br>
            <a:br>
              <a:rPr lang="pt-BR" sz="2800" b="1" dirty="0"/>
            </a:br>
            <a:r>
              <a:rPr lang="pt-BR" sz="2800" b="1" dirty="0"/>
              <a:t>&lt;/</a:t>
            </a:r>
            <a:r>
              <a:rPr lang="pt-BR" sz="2800" b="1" dirty="0" err="1"/>
              <a:t>head</a:t>
            </a:r>
            <a:r>
              <a:rPr lang="pt-BR" sz="2800" b="1" dirty="0"/>
              <a:t>&gt;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E3C86D-DA87-764B-0728-01B584C1BB98}"/>
              </a:ext>
            </a:extLst>
          </p:cNvPr>
          <p:cNvSpPr txBox="1"/>
          <p:nvPr/>
        </p:nvSpPr>
        <p:spPr>
          <a:xfrm>
            <a:off x="1774257" y="331420"/>
            <a:ext cx="92395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CRIANDO O CODIGO &lt;HTML&gt;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4A9DC4C-4CBF-9D1A-B9C3-8784523D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11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03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260D7-1CBF-48BF-B213-07A0CDD2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492" y="43415"/>
            <a:ext cx="9636370" cy="1110136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latin typeface="Arial" panose="020B0604020202020204" pitchFamily="34" charset="0"/>
                <a:cs typeface="Arial" panose="020B0604020202020204" pitchFamily="34" charset="0"/>
              </a:rPr>
              <a:t>CRIANDO &lt;body&gt;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F051211-0FDA-493A-8A6F-BA4E5C32A68D}"/>
              </a:ext>
            </a:extLst>
          </p:cNvPr>
          <p:cNvSpPr/>
          <p:nvPr/>
        </p:nvSpPr>
        <p:spPr>
          <a:xfrm>
            <a:off x="191069" y="1282890"/>
            <a:ext cx="11778018" cy="5727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effectLst/>
                <a:latin typeface="Consolas" panose="020B0609020204030204" pitchFamily="49" charset="0"/>
              </a:rPr>
              <a:t>&lt;body&gt;</a:t>
            </a: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&lt;h1&gt;Bolo de Cuca: Ingredientes.&lt;/h1&gt;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b="1" dirty="0">
                <a:effectLst/>
                <a:latin typeface="Consolas" panose="020B0609020204030204" pitchFamily="49" charset="0"/>
              </a:rPr>
              <a:t>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b="1" dirty="0">
                <a:effectLst/>
                <a:latin typeface="Consolas" panose="020B0609020204030204" pitchFamily="49" charset="0"/>
              </a:rPr>
              <a:t>="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indice</a:t>
            </a:r>
            <a:r>
              <a:rPr lang="pt-BR" b="1" dirty="0">
                <a:effectLst/>
                <a:latin typeface="Consolas" panose="020B0609020204030204" pitchFamily="49" charset="0"/>
              </a:rPr>
              <a:t>"&gt;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ul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4 ovos&lt;/li&gt;&lt;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2 colheres de margarina&lt;/li&gt;&lt;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300 ml de leite&lt;/li&gt;&lt;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2 xícaras de açúcar&lt;/li&gt;&lt;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500 kg de farinha de trigo&lt;/li&gt;&lt;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3 colheres de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oléo</a:t>
            </a:r>
            <a:r>
              <a:rPr lang="pt-BR" b="1" dirty="0">
                <a:effectLst/>
                <a:latin typeface="Consolas" panose="020B0609020204030204" pitchFamily="49" charset="0"/>
              </a:rPr>
              <a:t>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1 colher e 1/2 de sopa de fermento em pó&lt;/li&gt;&lt;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&lt;h2&gt;FAROFA&lt;/h2&gt;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2 colheres de sopa de margarina&lt;/li&gt;&lt;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4 colheres de sopa de açúcar&lt;/li&gt;&lt;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3 colheres de óleo&lt;/li&gt;&lt;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4 colheres de farinha de trigo&lt;/li&gt;&lt;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    &lt;li&gt;	1 pacotinho de canela em pó&lt;/li&gt;&lt;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        &lt;/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ul</a:t>
            </a:r>
            <a:r>
              <a:rPr lang="pt-BR" b="1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F1FFB4-8B38-C43B-0686-DD445BB8C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6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1DDEF-5D33-4813-A8EA-0475ACABF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928" y="1"/>
            <a:ext cx="9505072" cy="914399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CONTINUA O CODIGO &lt;HTML&gt;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B29ECB0-92B4-4C0F-A1FA-5D7AC0D69966}"/>
              </a:ext>
            </a:extLst>
          </p:cNvPr>
          <p:cNvSpPr/>
          <p:nvPr/>
        </p:nvSpPr>
        <p:spPr>
          <a:xfrm>
            <a:off x="-1" y="914400"/>
            <a:ext cx="121919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effectLst/>
                <a:latin typeface="Consolas" panose="020B0609020204030204" pitchFamily="49" charset="0"/>
              </a:rPr>
              <a:t>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class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="foto"&gt;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img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 id="foto-Cuca" 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src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="../../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img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/cucas.jpg" 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alt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="Bolo de Cuca" 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="200px"&gt;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div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article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&lt;h3&gt;Modo de preparo&lt;/h3&gt;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ol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Bate as gemas , margarina, óleo, açúcar, depois o leite, em seguida a farinha de trigo.&lt;/li&gt;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Bate muito bem.&lt;/li&gt;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Depois acrescenta as claras em neve e o fermento.&lt;/li&gt;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Unta a forma com margarina e farinha de trigo e despeja em uma forma retangular.&lt;/li&gt;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Coloque a farofa por cima do bolo. Farofa: Mistura tudo com as mãos, esfarelando e colocando em cima do bolo.&lt;/li&gt;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Leva ao forno moderado por uns 40 minutos e pronto.&lt;/li&gt;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br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    &lt;li&gt;	É uma delícia!!!!!!!.&lt;/li&gt;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    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ol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    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article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    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&lt;/body&gt;</a:t>
            </a:r>
          </a:p>
          <a:p>
            <a:r>
              <a:rPr lang="pt-BR" sz="1400" b="1" dirty="0">
                <a:effectLst/>
                <a:latin typeface="Consolas" panose="020B0609020204030204" pitchFamily="49" charset="0"/>
              </a:rPr>
              <a:t>&lt;/</a:t>
            </a:r>
            <a:r>
              <a:rPr lang="pt-BR" sz="1400" b="1" dirty="0" err="1">
                <a:effectLst/>
                <a:latin typeface="Consolas" panose="020B0609020204030204" pitchFamily="49" charset="0"/>
              </a:rPr>
              <a:t>html</a:t>
            </a:r>
            <a:r>
              <a:rPr lang="pt-BR" sz="1400" b="1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B264B0-5D53-1C1E-DE2B-31384E5F4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E7E69-589B-45EA-8C97-C5765BADB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798" y="109183"/>
            <a:ext cx="9467001" cy="817136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CRIANDO ESTILO CSS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B2C7CE-2FBB-48AA-ACC7-22B217FE8E59}"/>
              </a:ext>
            </a:extLst>
          </p:cNvPr>
          <p:cNvSpPr/>
          <p:nvPr/>
        </p:nvSpPr>
        <p:spPr>
          <a:xfrm>
            <a:off x="112542" y="817136"/>
            <a:ext cx="58788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600" b="1" dirty="0">
              <a:effectLst/>
              <a:latin typeface="Consolas" panose="020B0609020204030204" pitchFamily="49" charset="0"/>
            </a:endParaRP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body {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0;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margin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0;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100%;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100%;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box-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sizing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border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-box;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background-color: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rgba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(156, 119, 39, 0.205);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font-family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'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Manrope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',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sans-serif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sz="1600" b="1" dirty="0">
              <a:effectLst/>
              <a:latin typeface="Consolas" panose="020B0609020204030204" pitchFamily="49" charset="0"/>
            </a:endParaRPr>
          </a:p>
          <a:p>
            <a:r>
              <a:rPr lang="pt-BR" sz="1600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background-color: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rgba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(245, 245, 245, 0.856);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height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fit-content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50%;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margin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40px;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margin-inline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auto;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50px;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600" b="1" dirty="0" err="1">
                <a:effectLst/>
                <a:latin typeface="Consolas" panose="020B0609020204030204" pitchFamily="49" charset="0"/>
              </a:rPr>
              <a:t>border-radius</a:t>
            </a:r>
            <a:r>
              <a:rPr lang="pt-BR" sz="1600" b="1" dirty="0">
                <a:effectLst/>
                <a:latin typeface="Consolas" panose="020B0609020204030204" pitchFamily="49" charset="0"/>
              </a:rPr>
              <a:t>: 40px;</a:t>
            </a:r>
          </a:p>
          <a:p>
            <a:r>
              <a:rPr lang="pt-BR" sz="1600" b="1" dirty="0"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38F06B-DD40-CD25-1332-A0A8CAF97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8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96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25F27-3A5D-4C66-966E-9DAA4708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039" y="98489"/>
            <a:ext cx="10181229" cy="83251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CRIANDO ESTILO CSS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8035FD3-1513-E46A-0EFB-2DE986FF8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5833" y="942535"/>
            <a:ext cx="6182435" cy="5816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.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indice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display: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flex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align-items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: center;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justify-content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: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flex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-start;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gap: 50px;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sz="1800" b="1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b="1" dirty="0" err="1">
                <a:effectLst/>
                <a:latin typeface="Consolas" panose="020B0609020204030204" pitchFamily="49" charset="0"/>
              </a:rPr>
              <a:t>img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{</a:t>
            </a:r>
          </a:p>
          <a:p>
            <a:endParaRPr lang="pt-BR" sz="1800" b="1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border:2px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solid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red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width:80%;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sz="1800" b="1" dirty="0" err="1">
                <a:effectLst/>
                <a:latin typeface="Consolas" panose="020B0609020204030204" pitchFamily="49" charset="0"/>
              </a:rPr>
              <a:t>margin</a:t>
            </a:r>
            <a:r>
              <a:rPr lang="pt-BR" sz="1800" b="1" dirty="0">
                <a:effectLst/>
                <a:latin typeface="Consolas" panose="020B0609020204030204" pitchFamily="49" charset="0"/>
              </a:rPr>
              <a:t>: 80px;</a:t>
            </a:r>
          </a:p>
          <a:p>
            <a:pPr marL="0" indent="0">
              <a:buNone/>
            </a:pPr>
            <a:r>
              <a:rPr lang="pt-BR" sz="1800" b="1" dirty="0">
                <a:effectLst/>
                <a:latin typeface="Consolas" panose="020B0609020204030204" pitchFamily="49" charset="0"/>
              </a:rPr>
              <a:t>    }</a:t>
            </a:r>
            <a:endParaRPr lang="pt-BR" sz="1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8844575-F0D4-401A-9F69-EFACA9231093}"/>
              </a:ext>
            </a:extLst>
          </p:cNvPr>
          <p:cNvSpPr/>
          <p:nvPr/>
        </p:nvSpPr>
        <p:spPr>
          <a:xfrm>
            <a:off x="379828" y="942535"/>
            <a:ext cx="518160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b="1" dirty="0">
                <a:effectLst/>
                <a:latin typeface="Consolas" panose="020B0609020204030204" pitchFamily="49" charset="0"/>
              </a:rPr>
              <a:t> h1 {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text-align</a:t>
            </a:r>
            <a:r>
              <a:rPr lang="pt-BR" b="1" dirty="0">
                <a:effectLst/>
                <a:latin typeface="Consolas" panose="020B0609020204030204" pitchFamily="49" charset="0"/>
              </a:rPr>
              <a:t>: center;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background-color: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rgb</a:t>
            </a:r>
            <a:r>
              <a:rPr lang="pt-BR" b="1" dirty="0">
                <a:effectLst/>
                <a:latin typeface="Consolas" panose="020B0609020204030204" pitchFamily="49" charset="0"/>
              </a:rPr>
              <a:t>(127, 255, 159);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padding</a:t>
            </a:r>
            <a:r>
              <a:rPr lang="pt-BR" b="1" dirty="0">
                <a:effectLst/>
                <a:latin typeface="Consolas" panose="020B0609020204030204" pitchFamily="49" charset="0"/>
              </a:rPr>
              <a:t>: 10px;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border-radius</a:t>
            </a:r>
            <a:r>
              <a:rPr lang="pt-BR" b="1" dirty="0">
                <a:effectLst/>
                <a:latin typeface="Consolas" panose="020B0609020204030204" pitchFamily="49" charset="0"/>
              </a:rPr>
              <a:t>: 20px;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font-family</a:t>
            </a:r>
            <a:r>
              <a:rPr lang="pt-BR" b="1" dirty="0">
                <a:effectLst/>
                <a:latin typeface="Consolas" panose="020B0609020204030204" pitchFamily="49" charset="0"/>
              </a:rPr>
              <a:t>: '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ABeeZee</a:t>
            </a:r>
            <a:r>
              <a:rPr lang="pt-BR" b="1" dirty="0">
                <a:effectLst/>
                <a:latin typeface="Consolas" panose="020B0609020204030204" pitchFamily="49" charset="0"/>
              </a:rPr>
              <a:t>',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sans-serif</a:t>
            </a:r>
            <a:r>
              <a:rPr lang="pt-BR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font-family</a:t>
            </a:r>
            <a:r>
              <a:rPr lang="pt-BR" b="1" dirty="0">
                <a:effectLst/>
                <a:latin typeface="Consolas" panose="020B0609020204030204" pitchFamily="49" charset="0"/>
              </a:rPr>
              <a:t>: 'Dancing Script',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cursive</a:t>
            </a:r>
            <a:r>
              <a:rPr lang="pt-BR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b="1" dirty="0">
              <a:effectLst/>
              <a:latin typeface="Consolas" panose="020B0609020204030204" pitchFamily="49" charset="0"/>
            </a:endParaRP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b="1" dirty="0">
                <a:effectLst/>
                <a:latin typeface="Consolas" panose="020B0609020204030204" pitchFamily="49" charset="0"/>
              </a:rPr>
              <a:t>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ul</a:t>
            </a:r>
            <a:r>
              <a:rPr lang="pt-BR" b="1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width</a:t>
            </a:r>
            <a:r>
              <a:rPr lang="pt-BR" b="1" dirty="0">
                <a:effectLst/>
                <a:latin typeface="Consolas" panose="020B0609020204030204" pitchFamily="49" charset="0"/>
              </a:rPr>
              <a:t>: 60%;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float:left</a:t>
            </a:r>
            <a:r>
              <a:rPr lang="pt-BR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b="1" dirty="0">
              <a:effectLst/>
              <a:latin typeface="Consolas" panose="020B0609020204030204" pitchFamily="49" charset="0"/>
            </a:endParaRPr>
          </a:p>
          <a:p>
            <a:r>
              <a:rPr lang="pt-BR" b="1" dirty="0" err="1">
                <a:effectLst/>
                <a:latin typeface="Consolas" panose="020B0609020204030204" pitchFamily="49" charset="0"/>
              </a:rPr>
              <a:t>section</a:t>
            </a:r>
            <a:r>
              <a:rPr lang="pt-BR" b="1" dirty="0">
                <a:effectLst/>
                <a:latin typeface="Consolas" panose="020B0609020204030204" pitchFamily="49" charset="0"/>
              </a:rPr>
              <a:t>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article</a:t>
            </a:r>
            <a:r>
              <a:rPr lang="pt-BR" b="1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   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clear</a:t>
            </a:r>
            <a:r>
              <a:rPr lang="pt-BR" b="1" dirty="0">
                <a:effectLst/>
                <a:latin typeface="Consolas" panose="020B0609020204030204" pitchFamily="49" charset="0"/>
              </a:rPr>
              <a:t>: </a:t>
            </a:r>
            <a:r>
              <a:rPr lang="pt-BR" b="1" dirty="0" err="1">
                <a:effectLst/>
                <a:latin typeface="Consolas" panose="020B0609020204030204" pitchFamily="49" charset="0"/>
              </a:rPr>
              <a:t>both</a:t>
            </a:r>
            <a:r>
              <a:rPr lang="pt-BR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pt-BR" sz="1200" b="1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32D547-0848-6042-F9A6-BB9A22545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83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79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8B72C-B85D-65D4-8A73-D0DFD12D6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45743"/>
            <a:ext cx="10513325" cy="604884"/>
          </a:xfrm>
        </p:spPr>
        <p:txBody>
          <a:bodyPr>
            <a:norm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LINK DA PAGINA DE EXEMPLO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F40535-F9BA-719A-DF63-DC3A67E05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06221"/>
            <a:ext cx="9144000" cy="1078173"/>
          </a:xfrm>
        </p:spPr>
        <p:txBody>
          <a:bodyPr/>
          <a:lstStyle/>
          <a:p>
            <a:r>
              <a:rPr lang="pt-BR" sz="2400" dirty="0">
                <a:hlinkClick r:id="rId2"/>
              </a:rPr>
              <a:t>https://kupskiemerson.neocities.org/conteudo/receita/CUCA.HTML</a:t>
            </a:r>
            <a:endParaRPr lang="pt-BR" sz="2400" dirty="0"/>
          </a:p>
          <a:p>
            <a:r>
              <a:rPr lang="pt-BR" dirty="0"/>
              <a:t>SEGUE IMAGEM DE EXEMPLO: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DF322F-477E-2098-7463-CBE149E8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74257" cy="832513"/>
          </a:xfrm>
          <a:prstGeom prst="rect">
            <a:avLst/>
          </a:prstGeom>
        </p:spPr>
      </p:pic>
      <p:pic>
        <p:nvPicPr>
          <p:cNvPr id="6" name="Imagem 5" descr="Pedaço de pão&#10;&#10;O conteúdo gerado por IA pode estar incorreto.">
            <a:extLst>
              <a:ext uri="{FF2B5EF4-FFF2-40B4-BE49-F238E27FC236}">
                <a16:creationId xmlns:a16="http://schemas.microsoft.com/office/drawing/2014/main" id="{973AB5C9-C27B-217B-B53A-D7883800D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069" y="2545307"/>
            <a:ext cx="2374662" cy="235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DAEAF-3D66-4167-BEF4-FFA80AF9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535"/>
            <a:ext cx="10515600" cy="5331656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FIM!</a:t>
            </a:r>
            <a:br>
              <a:rPr lang="pt-BR" sz="6000" b="1" dirty="0"/>
            </a:br>
            <a:br>
              <a:rPr lang="pt-BR" sz="6000" b="1" dirty="0"/>
            </a:br>
            <a:r>
              <a:rPr lang="pt-BR" sz="6000" b="1" dirty="0"/>
              <a:t>BONS CODIGOS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CB6D49-3338-9235-D3B9-3FBC6CC4B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257" cy="12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16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Words>1807</Words>
  <Application>Microsoft Office PowerPoint</Application>
  <PresentationFormat>Widescreen</PresentationFormat>
  <Paragraphs>324</Paragraphs>
  <Slides>22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Lexend</vt:lpstr>
      <vt:lpstr>Lexend Medium</vt:lpstr>
      <vt:lpstr>Source Code Pro</vt:lpstr>
      <vt:lpstr>Source Code Pro Medium</vt:lpstr>
      <vt:lpstr>Verdana</vt:lpstr>
      <vt:lpstr>Tema do Office</vt:lpstr>
      <vt:lpstr>   Atividade Extensionista II:  Tecnologia Aplicada à Inclusão Digital </vt:lpstr>
      <vt:lpstr>CADASTRO NO NEOCITIES</vt:lpstr>
      <vt:lpstr>ORGANIZAÇÃO DA PAGINA </vt:lpstr>
      <vt:lpstr>&lt;HTML&gt;</vt:lpstr>
      <vt:lpstr>&lt;HEAD&gt;</vt:lpstr>
      <vt:lpstr>&lt;BODY&gt;</vt:lpstr>
      <vt:lpstr>Exemplo de código &lt;BODY&gt;</vt:lpstr>
      <vt:lpstr>         &lt;tags&gt; mais comuns</vt:lpstr>
      <vt:lpstr>CRIAÇÃO DE CSS</vt:lpstr>
      <vt:lpstr>Sintaxe do CSS</vt:lpstr>
      <vt:lpstr>Apresentação do PowerPoint</vt:lpstr>
      <vt:lpstr>Propriedades e valores...</vt:lpstr>
      <vt:lpstr>Aplicando seu estilo</vt:lpstr>
      <vt:lpstr>Renderização</vt:lpstr>
      <vt:lpstr>ATIVIDADE PROPOSTA</vt:lpstr>
      <vt:lpstr>&lt;!DOCTYPE html&gt; &lt;html&gt;     &lt;head&gt; &lt;meta charset="unit-8"&gt; &lt;meta http-equiv="X-UA-Compatible" content="IE=edge"&gt; &lt;meta name="viewport" content="width=device-width, initial-scale=1.0"&gt; &lt;title&gt;Receita&lt;/title&gt; &lt;link rel="stylesheet" href="../../css/cuca.css"&gt;  &lt;/head&gt;</vt:lpstr>
      <vt:lpstr>CRIANDO &lt;body&gt;</vt:lpstr>
      <vt:lpstr>CONTINUA O CODIGO &lt;HTML&gt;</vt:lpstr>
      <vt:lpstr>CRIANDO ESTILO CSS</vt:lpstr>
      <vt:lpstr>CRIANDO ESTILO CSS</vt:lpstr>
      <vt:lpstr>LINK DA PAGINA DE EXEMPLO</vt:lpstr>
      <vt:lpstr>FIM!  BONS CODIGOS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GESTÃO DE PESSOAS</dc:title>
  <dc:creator>HP</dc:creator>
  <cp:lastModifiedBy>Windows Lite BR</cp:lastModifiedBy>
  <cp:revision>9</cp:revision>
  <dcterms:created xsi:type="dcterms:W3CDTF">2022-08-27T19:28:09Z</dcterms:created>
  <dcterms:modified xsi:type="dcterms:W3CDTF">2025-11-03T17:39:33Z</dcterms:modified>
</cp:coreProperties>
</file>